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355" r:id="rId12"/>
    <p:sldId id="1356" r:id="rId13"/>
    <p:sldId id="1357" r:id="rId14"/>
    <p:sldId id="1358" r:id="rId15"/>
    <p:sldId id="1359" r:id="rId16"/>
    <p:sldId id="1360" r:id="rId17"/>
    <p:sldId id="1361" r:id="rId18"/>
    <p:sldId id="1362" r:id="rId19"/>
    <p:sldId id="1363" r:id="rId20"/>
    <p:sldId id="1364" r:id="rId21"/>
    <p:sldId id="1365" r:id="rId22"/>
    <p:sldId id="1366" r:id="rId23"/>
    <p:sldId id="1367" r:id="rId24"/>
    <p:sldId id="1368" r:id="rId25"/>
    <p:sldId id="1369" r:id="rId26"/>
    <p:sldId id="1370" r:id="rId27"/>
    <p:sldId id="1371" r:id="rId28"/>
    <p:sldId id="1372" r:id="rId29"/>
    <p:sldId id="1373" r:id="rId30"/>
    <p:sldId id="1374" r:id="rId31"/>
    <p:sldId id="1375" r:id="rId32"/>
    <p:sldId id="1376" r:id="rId33"/>
    <p:sldId id="1377" r:id="rId34"/>
    <p:sldId id="1378" r:id="rId35"/>
    <p:sldId id="1379" r:id="rId36"/>
    <p:sldId id="1380" r:id="rId37"/>
    <p:sldId id="1381" r:id="rId38"/>
    <p:sldId id="1382" r:id="rId39"/>
    <p:sldId id="1383" r:id="rId40"/>
    <p:sldId id="1384" r:id="rId41"/>
    <p:sldId id="1385" r:id="rId42"/>
    <p:sldId id="1386" r:id="rId43"/>
    <p:sldId id="1387" r:id="rId44"/>
    <p:sldId id="1388" r:id="rId45"/>
    <p:sldId id="1389" r:id="rId46"/>
    <p:sldId id="1390" r:id="rId47"/>
    <p:sldId id="1391" r:id="rId48"/>
    <p:sldId id="1392" r:id="rId49"/>
    <p:sldId id="1393" r:id="rId50"/>
    <p:sldId id="1394" r:id="rId51"/>
    <p:sldId id="1395" r:id="rId52"/>
    <p:sldId id="1396" r:id="rId53"/>
    <p:sldId id="1397" r:id="rId54"/>
    <p:sldId id="1398" r:id="rId55"/>
    <p:sldId id="1399" r:id="rId56"/>
    <p:sldId id="1400" r:id="rId57"/>
    <p:sldId id="1401" r:id="rId58"/>
    <p:sldId id="1402" r:id="rId59"/>
    <p:sldId id="1403" r:id="rId60"/>
    <p:sldId id="1404" r:id="rId61"/>
    <p:sldId id="1405" r:id="rId62"/>
    <p:sldId id="1406" r:id="rId63"/>
    <p:sldId id="1407" r:id="rId64"/>
    <p:sldId id="1408" r:id="rId65"/>
    <p:sldId id="1409" r:id="rId66"/>
    <p:sldId id="1410" r:id="rId67"/>
    <p:sldId id="1411" r:id="rId68"/>
    <p:sldId id="1412" r:id="rId69"/>
    <p:sldId id="1413" r:id="rId70"/>
    <p:sldId id="1414" r:id="rId71"/>
    <p:sldId id="1415" r:id="rId72"/>
    <p:sldId id="1416" r:id="rId73"/>
    <p:sldId id="1417" r:id="rId74"/>
    <p:sldId id="1418" r:id="rId75"/>
    <p:sldId id="1419" r:id="rId76"/>
    <p:sldId id="1420" r:id="rId77"/>
    <p:sldId id="1421" r:id="rId78"/>
    <p:sldId id="1422" r:id="rId79"/>
    <p:sldId id="1423" r:id="rId80"/>
    <p:sldId id="1424" r:id="rId81"/>
    <p:sldId id="1425" r:id="rId82"/>
    <p:sldId id="1426" r:id="rId83"/>
    <p:sldId id="1427" r:id="rId84"/>
    <p:sldId id="1428" r:id="rId85"/>
    <p:sldId id="1429" r:id="rId86"/>
    <p:sldId id="1430" r:id="rId87"/>
    <p:sldId id="1431" r:id="rId88"/>
    <p:sldId id="1432" r:id="rId89"/>
    <p:sldId id="1433" r:id="rId90"/>
    <p:sldId id="1434" r:id="rId91"/>
    <p:sldId id="1435" r:id="rId92"/>
    <p:sldId id="1436" r:id="rId93"/>
    <p:sldId id="1437" r:id="rId94"/>
    <p:sldId id="1438" r:id="rId95"/>
    <p:sldId id="1439" r:id="rId96"/>
    <p:sldId id="1440" r:id="rId97"/>
    <p:sldId id="1441" r:id="rId98"/>
    <p:sldId id="1442" r:id="rId99"/>
    <p:sldId id="1443" r:id="rId100"/>
    <p:sldId id="1444" r:id="rId101"/>
    <p:sldId id="1445" r:id="rId102"/>
    <p:sldId id="1446" r:id="rId103"/>
    <p:sldId id="1447" r:id="rId104"/>
    <p:sldId id="1448" r:id="rId105"/>
    <p:sldId id="1449" r:id="rId106"/>
    <p:sldId id="1450" r:id="rId107"/>
    <p:sldId id="1451" r:id="rId108"/>
    <p:sldId id="1452" r:id="rId109"/>
    <p:sldId id="1453" r:id="rId110"/>
    <p:sldId id="1454" r:id="rId111"/>
    <p:sldId id="1455" r:id="rId11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23" autoAdjust="0"/>
  </p:normalViewPr>
  <p:slideViewPr>
    <p:cSldViewPr>
      <p:cViewPr varScale="1">
        <p:scale>
          <a:sx n="91" d="100"/>
          <a:sy n="91" d="100"/>
        </p:scale>
        <p:origin x="2220" y="30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62"/>
    </p:cViewPr>
  </p:sorterViewPr>
  <p:notesViewPr>
    <p:cSldViewPr>
      <p:cViewPr varScale="1">
        <p:scale>
          <a:sx n="32" d="100"/>
          <a:sy n="32" d="100"/>
        </p:scale>
        <p:origin x="2316" y="54"/>
      </p:cViewPr>
      <p:guideLst>
        <p:guide orient="horz" pos="2928"/>
        <p:guide pos="220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5337CE8-B845-583C-A8DC-11069BCCAE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440DA64-84A0-BBB2-D202-02E7F4D085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9D1EAAE-18F5-DC42-00E3-16DB84CAAB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68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B57DED-C758-2E39-7603-8D97584F74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F29DE0E-5A81-A0CA-0006-F9B499D192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50061CC-4EC2-904A-6A62-B5B42AD8DAE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4C8C12B-33BD-FDD6-DC16-7FFB812380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79F9924-913A-E429-4047-24E7538CE28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68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83D2496-2DC6-E85D-FAD2-B7C1208E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1263"/>
            <a:ext cx="30368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B0A42FD-C687-44A7-A6E1-41E6F4262D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0AC4CB-EEA1-EC88-E8DD-857E16C5B2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324600"/>
            <a:ext cx="320040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defRPr/>
            </a:pPr>
            <a:r>
              <a:rPr lang="nl-NL" altLang="en-US" sz="800">
                <a:latin typeface="Arial" panose="020B0604020202020204" pitchFamily="34" charset="0"/>
                <a:cs typeface="Arial" panose="020B0604020202020204" pitchFamily="34" charset="0"/>
              </a:rPr>
              <a:t>www.spiraltrain.nl</a:t>
            </a:r>
          </a:p>
        </p:txBody>
      </p:sp>
      <p:pic>
        <p:nvPicPr>
          <p:cNvPr id="5" name="Picture 8" descr="C:\companies\SpiralTrain\logos\logo2.png">
            <a:extLst>
              <a:ext uri="{FF2B5EF4-FFF2-40B4-BE49-F238E27FC236}">
                <a16:creationId xmlns:a16="http://schemas.microsoft.com/office/drawing/2014/main" id="{CAFB241E-AB5B-54AF-5CA2-0008419E6A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0"/>
            <a:ext cx="201612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0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5B8C9-25AA-DDB0-4417-A2C94A11C0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EC5C8-14B2-7F52-7F94-5469B5110D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5C0ECA1-BF97-473E-9D63-5B26A5C5AF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535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53C9AB-AF48-EB5C-4ED0-D18C805FAFF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324600"/>
            <a:ext cx="320040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defRPr/>
            </a:pPr>
            <a:r>
              <a:rPr lang="nl-NL" altLang="en-US" sz="800">
                <a:latin typeface="Arial" panose="020B0604020202020204" pitchFamily="34" charset="0"/>
                <a:cs typeface="Arial" panose="020B0604020202020204" pitchFamily="34" charset="0"/>
              </a:rPr>
              <a:t>© copyright : spiraltrain@gmail.com</a:t>
            </a:r>
          </a:p>
        </p:txBody>
      </p:sp>
      <p:pic>
        <p:nvPicPr>
          <p:cNvPr id="5" name="Picture 8" descr="C:\companies\SpiralTrain\logos\logo2.png">
            <a:extLst>
              <a:ext uri="{FF2B5EF4-FFF2-40B4-BE49-F238E27FC236}">
                <a16:creationId xmlns:a16="http://schemas.microsoft.com/office/drawing/2014/main" id="{ED4A8696-646B-8DA8-C1EB-986C0BC81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0"/>
            <a:ext cx="201612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0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F55F2-5D53-F601-8639-6A5D56FC73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96367-C26D-987D-B065-84141A278F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E387C4-A89C-4B9B-A095-C984A29678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94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478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FD6AD3-E058-9EAA-6962-436CBDDB5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45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D60AD4-B684-7766-9387-D8FD92E41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8458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A56C95-4E13-5EF6-5BFC-52CF7F12E1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05400" y="63246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391DFC-CB56-D806-E508-5E8F0BD37C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324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1C52EEAD-871A-4246-8D36-3F623BDFBB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—"/>
        <a:defRPr sz="15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Introduction to RAG (Retrieval Augmented Generation) and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Introduction to RAG (Retrieval Augmented Generation) and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RAG Overview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Retrieval Augmented Generation combines search with language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Embeddings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 converted to numerical representations for semantic similarity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Query vectors find relevant documents from knowledge 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Generation Step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Language model creates response using retrieved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Key Benefits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Reduces hallucinations and grounds responses in actual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Use Cases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Question answering, document search, and knowledge management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Sachin Soni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document appears to be corrupted or unreadable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content available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extract meaningful information about Sachin Soni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format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File may be damaged, encrypted, or in unsupported format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Please provide valid source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Readable content needed to create accurate bullet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Follow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corruption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corrupted binary image data only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File appears to be PNG image format, not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generate bullet points from unreadable source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Valid content required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Please provide text-based source material for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8 min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document contains unreadable or garbled binary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 appears to be corrupted image or font encoding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identify topic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determine subject matter from the corrupted characters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reconstruction needed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Original clean source required to create meaningful slide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·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could not be generated for this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Sep 15,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corruption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corrupted binary data preventing content extraction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Unreadable file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appears to be damaged or improperly encoded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Binary data cannot be converted to readable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limitation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process or interpret the provided source material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(Portable Network Graphics) format with transparency support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Resolution details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Physical dimensions and pixel density metadata included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Color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Contains RGB color data and alpha channel transparency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File structure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IHDR header, pHYs physical pixel dimensions, and IDAT compressed image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Metadata included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EXIF orientation and rendering information embedded in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binary data instead of readable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PNG image references found throughout the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parse meaningful content from provided source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Content unavailable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valid information can be extracted for slide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Retrieval-Augmented Generation (RAG) is a powerful technique that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Combines two key processes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Retrieving information and generating text work together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Goes beyond traditional models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Searches external sources instead of relying only on training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External information sources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Accesses databases or documents for relevant knowledge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More accurate answers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Generated responses are detailed and factually grounded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Up-to-date knowledge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Provides current information not available during model training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Specialized knowledge tasks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Ideal for question answering and informative content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content contains binary data and unreadable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fragments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headers and IDAT chunks indicate embedded image files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coherent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extract meaningful content for presentation slide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recovery needed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Original document must be retrieved from valid 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by CampusX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content contains binary image data instead of readable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file fragments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IDAT chunks and image metadata present in source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generate bullet points from non-text binary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Content verification needed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Original source must be re-retrieved for accurate slide creation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Limitations of Large Language Models Before RAG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data cutoff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Knowledge limited to information available before training ended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real-time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access current events or updated data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Static knowledge base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incorporate new information after initial training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Hallucination risks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May generate plausible-sounding but incorrect or fabricated responses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Domain-specific gaps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Lacks specialized or proprietary knowledge not in training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source verification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cite specific sources or verify factual claims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Large Language Models (LLMs) like GPT-3 have impressive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Impressive capabilities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 human-like text across diverse tasks and domains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scale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trained on massive datasets with billions of parameters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Few-shot learning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Perform new tasks with minimal examples or instructions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Versatile applications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Powers chatbots, content creation, code generation and translation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understanding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Maintains coherence across long conversations and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Limitations exist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 produce incorrect information and lacks true reasoning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Outdated Knowledge: LLMs can’t access new information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data only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rely solely on data they were trained with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new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access information created after training completed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real-time updates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provide current or up-to-date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Knowledge cutoff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Information is frozen at the time of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Factual Mistakes: LLMs can generate fluent text but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Fluent but flawed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generate smooth text that can contain errors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Incorrect answers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sometimes provide misleading or wrong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Specialized topics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Less common subjects are particularly prone to mistakes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Accuracy challenge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Fluency does not guarantee factual correctness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Hallucination Problem: LLMs sometimes “hallucinate,” meaning they confidently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What is hallucination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confidently generate information that sounds reasonable but is false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Why it happens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They rely only on patterns from their training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Not real-time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don't access current or verified information when responding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The core problem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Pattern matching creates plausible-sounding but completely incorrect outputs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No Access to External Information: LLMs can’t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external lookups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cannot access the internet or databases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Limited information retrieval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fetch answers from outside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Restricted knowledge access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provide specific details requiring external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Accuracy limitations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Reduced ability to give precise information on certain topics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How RAG Solves These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Retrieves relevant context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Pulls specific information from external knowledge bases on demand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Reduces hallucinations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Grounds responses in actual documents rather than memorized patterns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Keeps information current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Accesses up-to-date data without requiring model retraining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Provides source attribution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Links answers back to specific documents for verification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Scales knowledge efficiently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Expands capabilities by adding documents instead of retraining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Domain-specific accuracy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Retrieves specialized content from enterprise or technical repositories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Retrieval-Augmented Generation (RAG) helps solve many of 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External information retrieval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fetch relevant data from databases and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Real-time knowledge access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search for up-to-date information instead of relying internally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Reduced hallucinations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Retrieval integration helps minimize false or fabricated responses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Improved accuracy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Generated content becomes more reliable and fact-based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Specialized query handling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Effectively addresses complex or domain-specific questions with retrieved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Understanding Information Retrieval Before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Traditional search limitations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Keyword matching often misses context and user intent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Information retrieval basics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Systems find and rank documents based on relevance scores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representations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converted to numerical embeddings capture semantic meaning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search methods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Cosine similarity and distance metrics identify related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Index structures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Inverted indexes and vector databases enable fast retrieval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Ranking algorithms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TF-IDF and BM25 score documents by term frequency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understanding gap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Classic IR struggles with synonyms and conceptual relationships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Before diving into Retrieval-Augmented Generation (RAG), it’s crucial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Understanding Information Retrieval (IR)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Foundation for Retrieval-Augmented Generation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What is IR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Finding and extracting relevant data from large datasets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Childhood analogy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Answering questions using only relevant parts of a paragraph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Core essence of IR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Retrieving only relevant information from massive collections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types supported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Text, images, audio, or video formats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by CampusX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content contains only binary image data and PNG files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text found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appears to be encoded or damaged beyond interpretation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fragments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PNG IDAT chunks present but no extractable slide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create meaningful bullet points from unreadable source material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process of IR generally consists of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Key steps in IR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process generally consists of a few essential steps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First step is indexing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Converting external data sources into numerical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Purpose of indexing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Makes it easier to search through large datasets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System scans database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Searches and ranks all documents related to the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Prioritization of results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with most relevant information are ranked highest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Workflow of RAG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User query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Natural language question submitted to the RAG system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retrieval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Relevant passages extracted from knowledge base using semantic search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augmentation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documents combined with original query for enriched prompt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LLM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Language model produces answer grounded in retrieved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Response delivery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Generated answer returned to user with source citations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In Retrieval-Augmented Generation (RAG), the workflow revolves around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Three main components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Retrieve, Augment, and Generate form the RAG workflow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First component in the RAG workflow process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Augment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Second component that processes retrieved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Generate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Final component that produces the output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1. Retrieve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Retrieving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Extract relevant documents and data from available information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Content identification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Locate specific facts, figures and details within retrieved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Information validation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Verify accuracy and relevance of retrieved content before use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preservation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Maintain original meaning and relationships between retrieved data points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tracking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origin and location of all retrieved information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This phase is responsible for fetching relevant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Fetches relevant information from external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Information sources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Knowledge base, database, or document repository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initiation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Process begins with a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origin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Derived from user input or given prompt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Embedding Model: The input query is first converted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Input query conversion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Query is first converted into vector embeddings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 model role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Maps input into numerical form for processing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embeddings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Numerical representation of the input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search preparation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Numerical form enables similarity searches to be performed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Vector Database: Once the query is embedded,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Sent to Vector DB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Embedded query is transmitted to the vector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Database contents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Contains embeddings of documents, text data and external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Indexing method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Database is indexed based on vector similarity measures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metric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Cosine similarity is often used for comparison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Retriever &amp; Ranker: A retriever component then selects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Retriever component function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Selects the top N documents or relevant data points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Selection criteria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Based on similarity between query and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Ranking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ordered by relevance for optimal results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algorithms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semantic search, sparse or dense retrieval methods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2. Augment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AI assistance integration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Copilot enhances productivity across Microsoft 365 applications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Content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Creates drafts, summaries and presentations from prompts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analysis support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Analyzes patterns and generates insights from Excel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Writing enhancement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Refines tone, improves clarity and suggests edits in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Meeting efficiency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Summarizes Teams calls and generates action items automatically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Email management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Drafts responses and organizes Outlook inbox by priority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In this phase, the retrieved information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Information retrieval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information is actively used in this stage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Additional context provided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Information adds context to the query or prompt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Enhanced model understanding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Context improves the model's comprehension of the task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augmentation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data enriches the original prompt with relevant details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Retrieved Context: The top N documents fetched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stage output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Top N documents are fetched and passed to the model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Retrieved context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provide additional details for the user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Augmentation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Context is appended with the original user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Purpose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Improves relevance and accuracy of the generated response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goal here is to leverage both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Dual knowledge integration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external knowledge base with model's trained knowledge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Enhanced question handling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Better performance on specific or previously unseen questions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External knowledge base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Provides specialized information beyond model training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Trained knowledge utilization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Leverages existing model capabilities and learned patterns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Improved accuracy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Synergy between sources handles edge cases more effectively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binary data and unreadable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files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embedded PNG images found in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meaningful textual information could be extracted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generate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Slide cannot be created from corrupted or binary source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3. Generate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content appears to be binary or encoded image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text found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extract meaningful content from the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format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consists of PNG image metadata and compressed pixel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Cannot generate slide points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Readable text content is required to create presentation bullets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final stage is responsible for generating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Final stage purpose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Generates the actual output for the system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Combines original prompt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the initial user query as foundation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Integrates augmented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Incorporates information retrieved from the retrieval phase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Output generation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Merges prompt with retrieved data into final response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LLMs (Large Language Models): The augmented prompt, along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Augmented prompt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context combined with original prompt for LLMs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LLM examples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GPT, BERT, and other transformer-based models process input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Processing phase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analyze the augmented prompt with retrieved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Enhanced response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Output is more context-aware thanks to retrieval phase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Improved accuracy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Extra information enables more accurate and relevant responses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Formatted Response: The output is returned as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Formatted response output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Returned as formatted response for user interface display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User interface display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Results are usually shown in the interface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enrichment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User query enhanced with additional relevant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Domain-specific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Often includes specialized knowledge for particular fields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Up-to-date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Incorporates current data not in standard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Addresses model limitations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Overcomes inherent constraints of standard language models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Visualizing the RAG Workflow: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ingestion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Raw documents are loaded and processed into the system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chunking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are split into smaller manageable segments for processing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embedding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 chunks are converted into numerical vector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storage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Embeddings are stored in a searchable vector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processing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User questions are converted into vectors for similarity matching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step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Most relevant document chunks are retrieved from the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augmentation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chunks are combined with the original user query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LLM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Language model generates accurate response using retrieved context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below diagram outlines the Retrieval-Augmented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RAG framework overview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Integrates retrieval methods with generative text generation approach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component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Sources relevant information to support the generation process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Generative approach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Produces text output using retrieved information as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Improved text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retrieval and generation for enhanced output quality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format with IHDR header and IDAT data chunks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Encoded binary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Contains compressed image pixel information and metadata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File structure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Includes physical pixel dimensions and color space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compression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zlib compression for efficient storage of visual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Metadata included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Contains resolution settings and rendering specifications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image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unreadable binary PNG file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Image files are encoded and cannot be decoded successfully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file structure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Contains PNG headers, IDAT chunks and metadata but no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Multiple embedded images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Several PNG files present in word/media directory structure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determine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Visual information in images cannot be accessed or interpreted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Explanation of Above diagram workflow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User uploads contract document for automated processing and analysis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AI extraction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System extracts key clauses, terms, dates and obligations automatically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Risk assessment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Algorithm identifies potential legal risks and compliance issues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Clause library matching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Compares extracted terms against approved standard clause templates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Review dashboard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Legal team views flagged items and extraction results visually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Approval workflow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Routed to appropriate stakeholders based on risk score thresholds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Final output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Generates summary report with recommendations and action items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A. Left Side (Retrieval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Sparse retrieval methods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 keyword matching like BM25 for exact term searches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Dense retrieval approaches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Employ semantic embeddings to capture meaning beyond keywords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Hybrid retrieval strategies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 sparse and dense methods for improved accuracy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reformulation techniques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Expand or rephrase queries to enhance retrieval effectiveness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Reranking mechanisms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Apply cross-encoders to reorder initial results by relevance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Private or Custom Data: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content appears to be binary or encoded image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readable information about private or custom data found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format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may be PNG image file rather than text document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Cannot generate bullets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Valid source material required to create accurate presentation content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This represents a large corpus of documents 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Large corpus of documents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Represents extensive collections of textual information and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Not in trained model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Information that exists outside the AI's original training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Private databases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Proprietary internal systems with restricted access and specialized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Custom datasets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Tailored collections created for specific business or research needs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External knowledge sources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Any information repository beyond the model's built-in knowledge base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2. Embedding Model: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Model architecture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transformer-based neural network for text vectorization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dimensions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Generates high-dimensional embeddings capturing semantic relationships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Pre-trained on large corpus of domain-specific documents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similarity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Maps similar concepts close together in vector space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Input processing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Tokenizes and encodes text into numerical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Output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Produces fixed-length embedding vectors for each text chunk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An embedding model (like BERT, or Sentence Transformers)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Converts to embeddings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Transforms documents and queries into dense vector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Examples include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BERT and Sentence Transformers are common embedding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meaning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Vectors represent meaning in high-dimensional space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Processes user queries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Converts search queries into same vector format as documents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3. Vector DB: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Purpose and function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Stores document embeddings for semantic similarity search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mechanism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Finds most relevant chunks using vector distance calculations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delivery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Sends top matching passages to LLM for answer generation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Scalability advantage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Handles large document collections efficiently through indexing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Integration role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Bridges raw documents and language model for accurate responses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embeddings are stored in a Vector Database,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Database storage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Embeddings are stored for efficient retrieval and search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search enabled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Database allows efficient searching based on vector similarity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processing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Queries trigger retrieval of relevant documents from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Vector-based retrieval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retrieved based on similarity to query vectors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4. Retriever and Ranker: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Retrieval stage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Fetches candidate passages from corpus using efficient search methods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Dense retrievers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Encode queries and documents as vectors for semantic matching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Sparse retrievers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 keyword-based methods like BM25 for term overlap matching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Ranking stage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Re-ranks retrieved candidates using cross-attention transformer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Cross-encoders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Process query-document pairs jointly for precise relevance scoring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Two-stage pipeline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Fast retrieval followed by accurate but slower ranking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Retriever: When a query is provided, the retriever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Searches knowledge base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query to find relevant documents from indexed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Converts query to vector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Transforms natural language into numerical embedding representation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Performs similarity matching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Compares query vector against document vectors in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Ranks results by relevance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Orders retrieved documents based on semantic similarity scores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Returns top passages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Sends most relevant text chunks to generator component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Enables source attribution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Maintains links to original documents for citation purposes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Ranker: The ranker ranks these documents based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Relevance to query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Measures how well document content matches user search terms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quality signals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Evaluates authority, freshness and credibility of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User engagement metrics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Considers click-through rates and time spent on pages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understanding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Analyzes meaning and context beyond keyword matching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Ranking algorithms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Applies machine learning models to score and order results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Personalization factors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Adjusts rankings based on user history and preferences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. Retrieved Context: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unreadable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content appears corrupted or contains non-text binary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parse meaningful information from provided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issue identified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format may be incompatible with text processing systems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Content verification needed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Original source should be reviewed to ensure proper data retrieval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top N most relevant documents or pieces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Selection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Top N most relevant documents are selected from retrieval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Retrieved context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Selected documents serve as context for generative model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Next step usage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context feeds into the generative model phase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Relevance ranking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Documents ranked by relevance to determine top 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B. Right Side (Generative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AI-powered content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Creates original text, images and code from natural language prompts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Pattern learning from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trained on massive datasets identify complex relationships and structures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Creative and adaptive outputs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Produces varied solutions beyond predefined rules or templates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Continuous model improvement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Systems refine performance through feedback and additional training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Handles ambiguity effectively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Interprets context and intent even with incomplete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Scalable innovation potential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Enables new applications in design, research and problem solving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External Data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unreadable binary or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appears to be image file not text document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identify external data source details from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format invalid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contains XML metadata but no readable business content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This highlights the limitation of purely generative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corpus limitation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Models cannot access data beyond their training set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external data access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retrieve new or updated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Purely generative approach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LLMs generate responses without consulting fresh sources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Not be up-to-date.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content appears garbled and unreadable throughout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Binary data present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image headers and encoded data mixed with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Extraction failure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parse meaningful information from provided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usable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identify key points or structured information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Suffer from hallucinations.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Binary data corruption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corrupted image files instead of readable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meaningful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consists entirely of PNG image headers and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Extraction failure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retrieve actual presentation content from provided files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Invalid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create bullet points from unreadable binary information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Lack specific domain knowledge.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content appears to be binary or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readable text or domain knowledge found in source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Invalid data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contains unreadable characters and garbled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Cannot create bullet points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does not contain coherent domain-specific content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2. Embedding Model: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Purpose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Converts text into numerical vector representations for semantic search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Architecture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transformer-based neural network to encode document meaning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Output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Produces fixed-length embeddings that capture contextual relationships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Training approach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Pre-trained on large text corpus then fine-tuned for domain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measure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Cosine distance between vectors determines semantic closeness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Token handling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Processes text in chunks respecting maximum context window limits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This step represents how the query and retrieved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encoding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Query is converted into embeddings for processing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encoding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documents are also encoded into embeddings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 conversion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Both query and documents transformed into vector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Generative model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Embeddings are processed by LLMs for generation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3. LLMs (Large Language Model):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content appears to be binary or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extract meaningful text about Large Language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Invalid input format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no interpretable content on LLMs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Cannot generate bullets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factual information available to create accurate slide points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LLMs (like GPT, BART, T5, etc.) 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Retrieved context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Takes context from the left side of the diagram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Original query input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the user's original query with retrieved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Response generation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Generates a response using both query and context together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Improved factual accuracy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Integrating external relevant documents enhances output accuracy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4. Formatted Response (User Interface):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Clean, readable presentation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Information displayed in user-friendly format for easy comprehension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Organized structure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Data arranged logically with clear headings and sections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Visual hierarchy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Important information emphasized through formatting and layout choices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Consistent styling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Uniform fonts, colors and spacing throughout the interface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Accessibility considerations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Design ensures content is readable for all user types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user receives the final output, which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More informed output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Final result integrates both generative and retrieved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Factually correct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Output accuracy enhanced through information retrieval integration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Generative capabilities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AI generation with external knowledge sources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Retrieved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Incorporates data pulled from relevant external sources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So far, we have covered the basics 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visualization fundamentals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Charts, graphs and visual elements for presenting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Design principles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Color theory, layout balance and effective communication strategies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Statistical concepts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Understanding distributions, trends and data analysis basics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Tool selection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Choosing appropriate chart types for different data scenarios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Audience considerations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Tailoring visualizations to viewer needs and knowledge levels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preparation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Cleaning and organizing information before creating visuals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Understanding Vector Databases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Traditional search limitations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Keyword matching fails to capture semantic meaning and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embeddings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Transform text into numerical representations capturing semantic relationships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search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Find related content by measuring distance between vector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Storage and indexing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Specialized databases optimize high-dimensional vector storage and retrieval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Use cases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Powers recommendation systems, semantic search and content discovery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Performance benefits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Faster retrieval of semantically similar items at scale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In today’s digital landscape, when you perform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Search engine intelligence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Google distinguishes between apple the fruit and Apple the company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Example query comparison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Calories in apple versus employees in Apple shows context understanding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search technique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technology that enables Google to achieve this distinction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Digital landscape capability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Modern search engines cleverly interpret user intent and context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Semantic search moves beyond simple keyword matching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Understand user intent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Goes beyond simple keyword matching to grasp query meaning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Leverage context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contextual information to deliver more accurate results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Embeddings at core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Relies on numerical representations of text for understanding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More accurate results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intent and context for improved search outcomes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What Are Embeddings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representations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Words or data converted into numerical arrays of numbers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meaning capture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Similar concepts positioned close together in vector space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Mathematical operations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Enable computation of relationships and similarities between items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Machine learning foundation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Neural networks learn optimal embeddings during training process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Dimensionality reduction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Complex data compressed into lower dimensional meaningful representations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preservation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Embeddings retain relationships and patterns from original data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Embeddings transform words or sentences into numeric vectors.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Embeddings definition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Transform words or sentences into numeric vectors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 matters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Same word like Apple has different meanings in contexts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Fruit example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Apple vector encodes fruit, sweet, and edible attributes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Company example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Apple vector focuses on technology, company, and innovation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content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unreadable binary or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meaningful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Cannot extract text or visual elements from provided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File format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image data appears corrupted or improperly encoded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process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does not contain valid textual information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image data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unreadable PNG file structures and binary artifacts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Image files are damaged and cannot be decoded or interpreted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formatting errors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IDAT chunks and encoding issues prevent image reconstruction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identify source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valid visual or textual information can be recovered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These vectors allow us to capture the semantic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similarity capture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Vectors represent relationships between words in meaningful ways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Fruit context example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Apple and orange vectors show similarities in fruit-related attributes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 context example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Apple and Samsung vectors highlight similarities in technology domain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Context-dependent relationships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Same word shows different similarities based on contextual meaning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The Role of Vector Databases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The Role of Vector Databases :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could not be generated for this slide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With thousands or even millions of embeddings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Scale challenge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Managing thousands or millions of embeddings requires efficient strategies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Storage considerations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Large embedding collections demand optimized database and indexing solutions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Search performance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Vector similarity search must remain fast at scale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Memory management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Loading all embeddings into memory may not be feasible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Indexing strategies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Specialized vector indexes enable rapid approximate nearest neighbor search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content contains only binary image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PNG file fragments and encoded data cannot be processed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meaningful information available for slide creation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appears to be corrupted or improperly formatted file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binary data and unreadable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files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embedded PNG images found within the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coherent information available for slide creation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format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appears to be compressed or encoded improperly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Traditional relational databases might initially seem like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Viable option initially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Traditional relational databases may seem like good choice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Storage approach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Generate embeddings and store them in SQL database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Query comparison method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Compare new query embeddings to retrieve relevant results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Scalability struggles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Approach fails when dealing with vast amounts of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Efficiency challenges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Performance issues emerge as data volume increases significantly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source material contains only unreadable binary PNG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text content available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appears to be image files without extractable information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Technical error encountered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parse meaningful content from provided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Slide cannot be created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Valid textual information required to generate presentation bullets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binary image data and corrupted 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embedded PNG files found in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Unable to parse meaningful content from corrupted file format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valid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does not contain readable text about image sources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To address these challenges, vector databases come into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databases come into play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Optimized for storing and querying large-scale vector embeddings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Linear search problem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Computationally expensive and slow for large datasets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Indexing techniques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Speed up searches in vector databases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Locality-sensitive hashing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LSH accelerates query performance in large-scale systems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Locality Sensitive Hashing (LSH)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Hash families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Functions map similar items to same buckets with high probability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Dimensionality reduction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Reduces high-dimensional data into compact hash signatures efficiently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Approximate nearest neighbors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Finds similar items quickly without exhaustive pairwise comparisons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Collision probability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Similar items hash to same bucket more often than dissimilar ones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Trade-offs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Balances search speed and accuracy through tunable parameters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LSH is a technique that partitions vectors into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Partitioning vectors into buckets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Groups similar vectors together based on their similarity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Hashing search queries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Query is hashed into one of the buckets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Reduced comparisons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Only compares query with vectors in the same bucket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Accelerated search times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Significantly faster than comparing with every stored vector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Enhanced efficiency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Method improves overall search performance and speed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Press enter or click to view image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Image file corruption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corrupted or unreadable binary image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metadata present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PNG file headers detected within the source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IDAT chunks identified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Compressed image data chunks found but content is garbled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text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Binary image data cannot be converted to meaningful presentation content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File format issues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Mixed encoding prevents proper text or image extraction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image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corruption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material contains garbled binary data and encoding errors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fragments found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Multiple embedded PNG headers suggest image file corruption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IDAT chunks present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Compressed image data blocks scattered throughout corrupted document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Text extraction failed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readable content available for meaningful analysis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File format issues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Source appears to be damaged Word document with embedded images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Why Vector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Why Vector Databases?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Content could not be generated for this slide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Vector databases offer two primary 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Efficient similarity search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Quickly finds semantically related content using vector embeddings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understanding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Matches meaning rather than exact keywords for better results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Scalable performance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Handles large volumes of high-dimensional data efficiently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AI integration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Enables retrieval-augmented generation and intelligent applications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Faster Searches: By employing techniques like LSH, they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LSH technique employed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Locality-Sensitive Hashing enables faster similarity searches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Search speed improvement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Dramatically reduces time needed to find similar items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Computational efficiency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Avoids exhaustive comparisons by grouping similar data together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Scalability advantage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Handles large datasets without proportional performance degradation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Approximate matching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Finds near-neighbors quickly with acceptable accuracy trade-offs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Optimal Storage: They are designed to handle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High Storage Capacity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Designed to handle large quantities of text data efficiently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Efficient Retrieval Systems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Optimized for quick access to stored information when needed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Scalable Architecture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Accommodates growing data volumes without performance degradation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Organized Data Structure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Systematic arrangement ensures reliable storage and fast queries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Robust Data Management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Maintains integrity and accessibility of stored content over time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As vector databases continue to evolve,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Becoming increasingly essential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Critical infrastructure for modern AI-powered applications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Semantic search applications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Enable intelligent search based on meaning and context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Recommendation systems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Power personalized suggestions across various platforms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Expanding use cases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Growing adoption across diverse application domains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 hope this overview helps you understand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databases fundamentals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Core principles and basic concepts of vector database systems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Modern data retrieval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Advanced techniques for retrieving information from large datasets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Search technologies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Contemporary tools and methods for efficient data searching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Significance and applications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Importance of vector databases in today's technology landscape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References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Source material corrupted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Retrieved document contains unreadable binary or encoded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extractable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 appears to be image data or corrupted file format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generate references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coherent information available from provided source material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Data quality issue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requires proper text extraction or alternative source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Research Paper for RAG : Retrieval-Augmented Generation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Document retrieval challenge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Traditional methods struggle with context and semantic understanding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RAG architecture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retrieval systems with generative language models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Knowledge-intensive tasks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Improves question answering and document summarization accuracy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 techniques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Dense vector representations enable semantic similarity matching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Performance metrics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Evaluated on accuracy, relevance and response coherence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Implementation benefits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Reduces hallucination while grounding responses in source documents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Vector Database Youtube Video: https://youtu.be/72XgD322wZ8?si=KPFg30be_EBu7EUa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Corrupted source material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The provided document contains only garbled binary data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No readable content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Text extraction shows random characters and encoding errors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PNG image files detected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Document appears to contain embedded image data only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Unable to extract information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No coherent text about vector databases or YouTube video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Vector Database Article : https://www.pinecone.io/learn/vector-database/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Vector Database Definition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Specialized database storing high-dimensional vector embeddings for AI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Embedding Representation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Transforms unstructured data into numerical vectors capturing semantic meaning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Similarity Search Capability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Enables fast retrieval of semantically similar items using distance metrics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High-Dimensional Indexing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Uses algorithms like HNSW for efficient nearest neighbor searches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Applications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Powers recommendation systems, semantic search and retrieval-augmented generation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Scalability Features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Handles billions of vectors with low latency queries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Metadata Filtering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Combines vector similarity with traditional filtering for precise results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400" b="1">
                <a:latin typeface="Arial"/>
              </a:rPr>
              <a:t>I trust this blog has enriched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0" bIns="45720" lIns="91440" rIns="91440">
            <a:normAutofit fontScale="100000" lnSpcReduction="0"/>
          </a:bodyPr>
          <a:lstStyle/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Blog topic covered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Retrieval Augmented Generation (RAG) explained in this post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Value delivered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Enriched understanding of RAG for readers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Stay connected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Invitation to follow for more insightful posts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2000" b="1">
                <a:latin typeface="Arial"/>
              </a:rPr>
              <a:t>Reader appreciation 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lnSpc>
                <a:spcPct val="100000"/>
              </a:lnSpc>
            </a:pPr>
            <a:r>
              <a:rPr sz="1600" b="0">
                <a:latin typeface="Arial"/>
              </a:rPr>
              <a:t>Gratitude expressed for time and interest invested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Programming voor Alterra">
  <a:themeElements>
    <a:clrScheme name="Java Programming voor Alterr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ava Programming voor Alter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Java Programming voor Alterr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va Programming voor Alterr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va Programming voor Alterr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va Programming voor Alterr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va Programming voor Alterr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va Programming voor Alterr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va Programming voor Alterr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ault Document.ppt  -  Compatibility Mode" id="{25A743B2-2737-46D1-8B71-84B4963FFB37}" vid="{BC4BF733-8299-42F5-B930-EDC2991F854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</TotalTime>
  <Words>577</Words>
  <Application>Microsoft Office PowerPoint</Application>
  <PresentationFormat>On-screen Show (4:3)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Java Programming voor Alterra</vt:lpstr>
      <vt:lpstr>Course Title</vt:lpstr>
      <vt:lpstr>General Course Remarks</vt:lpstr>
      <vt:lpstr>Course Schedule</vt:lpstr>
      <vt:lpstr>What 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Willem Koppenol</dc:creator>
  <cp:lastModifiedBy>Willem Koppenol</cp:lastModifiedBy>
  <cp:revision>1</cp:revision>
  <dcterms:created xsi:type="dcterms:W3CDTF">2025-11-18T10:39:53Z</dcterms:created>
  <dcterms:modified xsi:type="dcterms:W3CDTF">2025-11-18T10:44:14Z</dcterms:modified>
</cp:coreProperties>
</file>